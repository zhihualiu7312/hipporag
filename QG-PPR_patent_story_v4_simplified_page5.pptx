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82D48"/>
                </a:solidFill>
                <a:latin typeface="Aptos"/>
              </a:defRPr>
            </a:pPr>
            <a:r>
              <a:t>Core Problem to Be Solved: How to Find the Right Evidence in a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19BA5"/>
                </a:solidFill>
                <a:latin typeface="Aptos"/>
              </a:defRPr>
            </a:pPr>
            <a:r>
              <a:t>For a complex engineering question, how can we identify the most useful knowledge paths and evidence from a large, interconnected, multi-granularity knowledge graph?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1298448"/>
            <a:ext cx="4617720" cy="841248"/>
          </a:xfrm>
          <a:prstGeom prst="roundRect">
            <a:avLst/>
          </a:prstGeom>
          <a:solidFill>
            <a:srgbClr val="E8F2FC"/>
          </a:solidFill>
          <a:ln w="1651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8"/>
                </a:solidFill>
                <a:latin typeface="Aptos"/>
              </a:defRPr>
            </a:pPr>
            <a:r>
              <a:t>Engineer Query</a:t>
            </a:r>
            <a:br/>
            <a:r>
              <a:t>“How can we improve Si / SiGe etch selectivity?”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08192" y="2139696"/>
            <a:ext cx="0" cy="310896"/>
          </a:xfrm>
          <a:prstGeom prst="line">
            <a:avLst/>
          </a:prstGeom>
          <a:ln w="27940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2450592"/>
            <a:ext cx="10835640" cy="272491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50" b="1">
                <a:solidFill>
                  <a:srgbClr val="182D48"/>
                </a:solidFill>
                <a:latin typeface="Aptos"/>
              </a:defRPr>
            </a:pPr>
            <a:r>
              <a:t>Knowledge Graph: interconnected, multi-granularity knowledge</a:t>
            </a:r>
          </a:p>
        </p:txBody>
      </p:sp>
      <p:sp>
        <p:nvSpPr>
          <p:cNvPr id="8" name="Oval 7"/>
          <p:cNvSpPr/>
          <p:nvPr/>
        </p:nvSpPr>
        <p:spPr>
          <a:xfrm>
            <a:off x="7360920" y="2624328"/>
            <a:ext cx="219456" cy="219456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82D48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626096" y="2615184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2D3237"/>
                </a:solidFill>
                <a:latin typeface="Aptos"/>
              </a:defRPr>
            </a:pPr>
            <a:r>
              <a:t>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59368" y="2624328"/>
            <a:ext cx="219456" cy="219456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82D48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24544" y="2615184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2D3237"/>
                </a:solidFill>
                <a:latin typeface="Aptos"/>
              </a:defRPr>
            </a:pPr>
            <a:r>
              <a:t>Passage</a:t>
            </a:r>
          </a:p>
        </p:txBody>
      </p:sp>
      <p:sp>
        <p:nvSpPr>
          <p:cNvPr id="12" name="Pentagon 11"/>
          <p:cNvSpPr/>
          <p:nvPr/>
        </p:nvSpPr>
        <p:spPr>
          <a:xfrm>
            <a:off x="9957816" y="2624328"/>
            <a:ext cx="219456" cy="219456"/>
          </a:xfrm>
          <a:prstGeom prst="homePlate">
            <a:avLst/>
          </a:prstGeom>
          <a:solidFill>
            <a:srgbClr val="FCF1E2"/>
          </a:solidFill>
          <a:ln w="1270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82D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222992" y="2615184"/>
            <a:ext cx="822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2D3237"/>
                </a:solidFill>
                <a:latin typeface="Aptos"/>
              </a:defRPr>
            </a:pPr>
            <a:r>
              <a:t>Paper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554480" y="3136392"/>
            <a:ext cx="685800" cy="128016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87752" y="3136392"/>
            <a:ext cx="704088" cy="228600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993392" y="3172968"/>
            <a:ext cx="548640" cy="667512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648456" y="3035808"/>
            <a:ext cx="603504" cy="237744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53128" y="3081528"/>
            <a:ext cx="393192" cy="576072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77639" y="3401568"/>
            <a:ext cx="182881" cy="758952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129784" y="3328416"/>
            <a:ext cx="128016" cy="347471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05272" y="3246120"/>
            <a:ext cx="566928" cy="594360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492240" y="3108960"/>
            <a:ext cx="91440" cy="594360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31152" y="3054096"/>
            <a:ext cx="978408" cy="265176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57031" y="3310128"/>
            <a:ext cx="749809" cy="603504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395728" y="3035808"/>
            <a:ext cx="1856232" cy="128016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91840" y="3328416"/>
            <a:ext cx="1965960" cy="182880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17320" y="3291840"/>
            <a:ext cx="457199" cy="548640"/>
          </a:xfrm>
          <a:prstGeom prst="line">
            <a:avLst/>
          </a:prstGeom>
          <a:ln w="9525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154680" y="3584448"/>
            <a:ext cx="457200" cy="877824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46120" y="4160520"/>
            <a:ext cx="685800" cy="301752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983480" y="3977639"/>
            <a:ext cx="0" cy="594361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983480" y="3401568"/>
            <a:ext cx="484632" cy="1170432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6473952" y="4114800"/>
            <a:ext cx="475488" cy="438912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967728" y="3401568"/>
            <a:ext cx="347472" cy="1152144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8549640" y="4041648"/>
            <a:ext cx="338328" cy="548640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887968" y="4096512"/>
            <a:ext cx="301752" cy="493776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542032" y="4005072"/>
            <a:ext cx="201168" cy="475488"/>
          </a:xfrm>
          <a:prstGeom prst="line">
            <a:avLst/>
          </a:prstGeom>
          <a:ln w="10795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664208" y="4590288"/>
            <a:ext cx="758952" cy="91440"/>
          </a:xfrm>
          <a:prstGeom prst="line">
            <a:avLst/>
          </a:prstGeom>
          <a:ln w="10795">
            <a:solidFill>
              <a:srgbClr val="D38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51960" y="3127248"/>
            <a:ext cx="1618488" cy="1563624"/>
          </a:xfrm>
          <a:prstGeom prst="line">
            <a:avLst/>
          </a:prstGeom>
          <a:ln w="10795">
            <a:solidFill>
              <a:srgbClr val="D38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382512" y="3127248"/>
            <a:ext cx="1435608" cy="1472184"/>
          </a:xfrm>
          <a:prstGeom prst="line">
            <a:avLst/>
          </a:prstGeom>
          <a:ln w="10795">
            <a:solidFill>
              <a:srgbClr val="D38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321040" y="3136392"/>
            <a:ext cx="1481328" cy="1508760"/>
          </a:xfrm>
          <a:prstGeom prst="line">
            <a:avLst/>
          </a:prstGeom>
          <a:ln w="10795">
            <a:solidFill>
              <a:srgbClr val="D38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783080" y="2971800"/>
            <a:ext cx="4087368" cy="1691640"/>
          </a:xfrm>
          <a:prstGeom prst="line">
            <a:avLst/>
          </a:prstGeom>
          <a:ln w="8255">
            <a:solidFill>
              <a:srgbClr val="B99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053328" y="2999232"/>
            <a:ext cx="1764792" cy="18288"/>
          </a:xfrm>
          <a:prstGeom prst="line">
            <a:avLst/>
          </a:prstGeom>
          <a:ln w="8255">
            <a:solidFill>
              <a:srgbClr val="B99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09560" y="3017520"/>
            <a:ext cx="1892808" cy="36576"/>
          </a:xfrm>
          <a:prstGeom prst="line">
            <a:avLst/>
          </a:prstGeom>
          <a:ln w="8255">
            <a:solidFill>
              <a:srgbClr val="B99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entagon 43"/>
          <p:cNvSpPr/>
          <p:nvPr/>
        </p:nvSpPr>
        <p:spPr>
          <a:xfrm>
            <a:off x="1143000" y="4480560"/>
            <a:ext cx="868680" cy="411480"/>
          </a:xfrm>
          <a:prstGeom prst="homePlate">
            <a:avLst/>
          </a:prstGeom>
          <a:solidFill>
            <a:srgbClr val="FCF1E2"/>
          </a:solidFill>
          <a:ln w="1270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82D48"/>
                </a:solidFill>
                <a:latin typeface="Aptos"/>
              </a:defRPr>
            </a:pPr>
            <a:r>
              <a:t>Paper A</a:t>
            </a:r>
          </a:p>
        </p:txBody>
      </p:sp>
      <p:sp>
        <p:nvSpPr>
          <p:cNvPr id="45" name="Pentagon 44"/>
          <p:cNvSpPr/>
          <p:nvPr/>
        </p:nvSpPr>
        <p:spPr>
          <a:xfrm>
            <a:off x="5486400" y="2743200"/>
            <a:ext cx="868680" cy="411480"/>
          </a:xfrm>
          <a:prstGeom prst="homePlate">
            <a:avLst/>
          </a:prstGeom>
          <a:solidFill>
            <a:srgbClr val="FCF1E2"/>
          </a:solidFill>
          <a:ln w="1270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82D48"/>
                </a:solidFill>
                <a:latin typeface="Aptos"/>
              </a:defRPr>
            </a:pPr>
            <a:r>
              <a:t>Paper B</a:t>
            </a:r>
          </a:p>
        </p:txBody>
      </p:sp>
      <p:sp>
        <p:nvSpPr>
          <p:cNvPr id="46" name="Pentagon 45"/>
          <p:cNvSpPr/>
          <p:nvPr/>
        </p:nvSpPr>
        <p:spPr>
          <a:xfrm>
            <a:off x="7360920" y="2761488"/>
            <a:ext cx="868680" cy="411480"/>
          </a:xfrm>
          <a:prstGeom prst="homePlate">
            <a:avLst/>
          </a:prstGeom>
          <a:solidFill>
            <a:srgbClr val="FCF1E2"/>
          </a:solidFill>
          <a:ln w="1270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82D48"/>
                </a:solidFill>
                <a:latin typeface="Aptos"/>
              </a:defRPr>
            </a:pPr>
            <a:r>
              <a:t>Paper C</a:t>
            </a:r>
          </a:p>
        </p:txBody>
      </p:sp>
      <p:sp>
        <p:nvSpPr>
          <p:cNvPr id="47" name="Pentagon 46"/>
          <p:cNvSpPr/>
          <p:nvPr/>
        </p:nvSpPr>
        <p:spPr>
          <a:xfrm>
            <a:off x="9281160" y="2788920"/>
            <a:ext cx="868680" cy="411480"/>
          </a:xfrm>
          <a:prstGeom prst="homePlate">
            <a:avLst/>
          </a:prstGeom>
          <a:solidFill>
            <a:srgbClr val="FCF1E2"/>
          </a:solidFill>
          <a:ln w="1270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82D48"/>
                </a:solidFill>
                <a:latin typeface="Aptos"/>
              </a:defRPr>
            </a:pPr>
            <a:r>
              <a:t>Paper 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23160" y="4315968"/>
            <a:ext cx="1078992" cy="43891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182D48"/>
                </a:solidFill>
                <a:latin typeface="Aptos"/>
              </a:defRPr>
            </a:pPr>
            <a:r>
              <a:t>P1</a:t>
            </a:r>
            <a:br/>
            <a:r>
              <a:t>Etch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1960" y="4416552"/>
            <a:ext cx="1078992" cy="43891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182D48"/>
                </a:solidFill>
                <a:latin typeface="Aptos"/>
              </a:defRPr>
            </a:pPr>
            <a:r>
              <a:t>P2</a:t>
            </a:r>
            <a:br/>
            <a:r>
              <a:t>Result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315968"/>
            <a:ext cx="1078992" cy="43891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182D48"/>
                </a:solidFill>
                <a:latin typeface="Aptos"/>
              </a:defRPr>
            </a:pPr>
            <a:r>
              <a:t>P3</a:t>
            </a:r>
            <a:br/>
            <a:r>
              <a:t>Mask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79" y="4370832"/>
            <a:ext cx="1078992" cy="43891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182D48"/>
                </a:solidFill>
                <a:latin typeface="Aptos"/>
              </a:defRPr>
            </a:pPr>
            <a:r>
              <a:t>P4</a:t>
            </a:r>
            <a:br/>
            <a:r>
              <a:t>Window</a:t>
            </a:r>
          </a:p>
        </p:txBody>
      </p:sp>
      <p:sp>
        <p:nvSpPr>
          <p:cNvPr id="52" name="Oval 51"/>
          <p:cNvSpPr/>
          <p:nvPr/>
        </p:nvSpPr>
        <p:spPr>
          <a:xfrm>
            <a:off x="1234440" y="315468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Si</a:t>
            </a:r>
          </a:p>
        </p:txBody>
      </p:sp>
      <p:sp>
        <p:nvSpPr>
          <p:cNvPr id="53" name="Oval 52"/>
          <p:cNvSpPr/>
          <p:nvPr/>
        </p:nvSpPr>
        <p:spPr>
          <a:xfrm>
            <a:off x="2240280" y="301752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SiGe</a:t>
            </a:r>
          </a:p>
        </p:txBody>
      </p:sp>
      <p:sp>
        <p:nvSpPr>
          <p:cNvPr id="54" name="Oval 53"/>
          <p:cNvSpPr/>
          <p:nvPr/>
        </p:nvSpPr>
        <p:spPr>
          <a:xfrm>
            <a:off x="3291840" y="324612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Etching</a:t>
            </a:r>
          </a:p>
        </p:txBody>
      </p:sp>
      <p:sp>
        <p:nvSpPr>
          <p:cNvPr id="55" name="Oval 54"/>
          <p:cNvSpPr/>
          <p:nvPr/>
        </p:nvSpPr>
        <p:spPr>
          <a:xfrm>
            <a:off x="1645920" y="384048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Selectivity</a:t>
            </a:r>
          </a:p>
        </p:txBody>
      </p:sp>
      <p:sp>
        <p:nvSpPr>
          <p:cNvPr id="56" name="Oval 55"/>
          <p:cNvSpPr/>
          <p:nvPr/>
        </p:nvSpPr>
        <p:spPr>
          <a:xfrm>
            <a:off x="4251960" y="2907792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Cl₂</a:t>
            </a:r>
          </a:p>
        </p:txBody>
      </p:sp>
      <p:sp>
        <p:nvSpPr>
          <p:cNvPr id="57" name="Oval 56"/>
          <p:cNvSpPr/>
          <p:nvPr/>
        </p:nvSpPr>
        <p:spPr>
          <a:xfrm>
            <a:off x="4846320" y="365760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HBr</a:t>
            </a:r>
          </a:p>
        </p:txBody>
      </p:sp>
      <p:sp>
        <p:nvSpPr>
          <p:cNvPr id="58" name="Oval 57"/>
          <p:cNvSpPr/>
          <p:nvPr/>
        </p:nvSpPr>
        <p:spPr>
          <a:xfrm>
            <a:off x="3977639" y="416052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ICP</a:t>
            </a:r>
          </a:p>
        </p:txBody>
      </p:sp>
      <p:sp>
        <p:nvSpPr>
          <p:cNvPr id="59" name="Oval 58"/>
          <p:cNvSpPr/>
          <p:nvPr/>
        </p:nvSpPr>
        <p:spPr>
          <a:xfrm>
            <a:off x="5257800" y="3090672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Mask</a:t>
            </a:r>
          </a:p>
        </p:txBody>
      </p:sp>
      <p:sp>
        <p:nvSpPr>
          <p:cNvPr id="60" name="Oval 59"/>
          <p:cNvSpPr/>
          <p:nvPr/>
        </p:nvSpPr>
        <p:spPr>
          <a:xfrm>
            <a:off x="6172200" y="384048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Oxide</a:t>
            </a:r>
          </a:p>
        </p:txBody>
      </p:sp>
      <p:sp>
        <p:nvSpPr>
          <p:cNvPr id="61" name="Oval 60"/>
          <p:cNvSpPr/>
          <p:nvPr/>
        </p:nvSpPr>
        <p:spPr>
          <a:xfrm>
            <a:off x="6583680" y="288036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Temperature</a:t>
            </a:r>
          </a:p>
        </p:txBody>
      </p:sp>
      <p:sp>
        <p:nvSpPr>
          <p:cNvPr id="62" name="Oval 61"/>
          <p:cNvSpPr/>
          <p:nvPr/>
        </p:nvSpPr>
        <p:spPr>
          <a:xfrm>
            <a:off x="7909560" y="315468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GAA</a:t>
            </a:r>
          </a:p>
        </p:txBody>
      </p:sp>
      <p:sp>
        <p:nvSpPr>
          <p:cNvPr id="63" name="Oval 62"/>
          <p:cNvSpPr/>
          <p:nvPr/>
        </p:nvSpPr>
        <p:spPr>
          <a:xfrm>
            <a:off x="9006840" y="3794760"/>
            <a:ext cx="530352" cy="347472"/>
          </a:xfrm>
          <a:prstGeom prst="ellipse">
            <a:avLst/>
          </a:prstGeom>
          <a:solidFill>
            <a:srgbClr val="E8F2FC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82D48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5285232"/>
            <a:ext cx="10149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D48"/>
                </a:solidFill>
                <a:latin typeface="Aptos"/>
              </a:defRPr>
            </a:pPr>
            <a:r>
              <a:t>Different node types and relationships create many possible retrieval paths.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5800" y="5715000"/>
            <a:ext cx="2971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D48"/>
                </a:solidFill>
                <a:latin typeface="Aptos"/>
              </a:defRPr>
            </a:pPr>
            <a:r>
              <a:t>① Where to go?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" y="6163056"/>
            <a:ext cx="2816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Which connections are truly useful?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60520" y="5715000"/>
            <a:ext cx="2971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D48"/>
                </a:solidFill>
                <a:latin typeface="Aptos"/>
              </a:defRPr>
            </a:pPr>
            <a:r>
              <a:t>② What to trust?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33672" y="6163056"/>
            <a:ext cx="2816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Entity, Passage, or Paper?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35240" y="5715000"/>
            <a:ext cx="2971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82D48"/>
                </a:solidFill>
                <a:latin typeface="Aptos"/>
              </a:defRPr>
            </a:pPr>
            <a:r>
              <a:t>③ How far to go?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08392" y="6163056"/>
            <a:ext cx="2816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Local search or multi-hop reasoning?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6565392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8760"/>
                </a:solidFill>
                <a:latin typeface="Aptos"/>
              </a:defRPr>
            </a:pPr>
            <a:r>
              <a:t>The challenge is not whether the answer exists in the knowledge graph, but how to find the right path to the answer for a given question.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182D48"/>
                </a:solidFill>
                <a:latin typeface="Aptos"/>
              </a:defRPr>
            </a:pPr>
            <a:r>
              <a:t>Why Existing Graph Retrieval Methods Are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defRPr sz="1400" b="0">
                <a:solidFill>
                  <a:srgbClr val="78828C"/>
                </a:solidFill>
                <a:latin typeface="Aptos"/>
              </a:defRPr>
            </a:pPr>
            <a:r>
              <a:t>Different questions require different retrieval paths and diffusion strategies.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170432"/>
            <a:ext cx="2743200" cy="54864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8"/>
                </a:solidFill>
                <a:latin typeface="Aptos"/>
              </a:defRPr>
            </a:pPr>
            <a:r>
              <a:t>Engineer Query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719072"/>
            <a:ext cx="0" cy="256032"/>
          </a:xfrm>
          <a:prstGeom prst="line">
            <a:avLst/>
          </a:prstGeom>
          <a:ln w="25400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0" y="1975104"/>
            <a:ext cx="4480560" cy="621792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8"/>
                </a:solidFill>
                <a:latin typeface="Aptos"/>
              </a:defRPr>
            </a:pPr>
            <a:r>
              <a:t>Existing GraphRAG / HippoRAG2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596896"/>
            <a:ext cx="0" cy="256032"/>
          </a:xfrm>
          <a:prstGeom prst="line">
            <a:avLst/>
          </a:prstGeom>
          <a:ln w="2286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4360" y="2852928"/>
            <a:ext cx="3081528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2990088"/>
            <a:ext cx="2862072" cy="45720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8"/>
                </a:solidFill>
                <a:latin typeface="Aptos"/>
              </a:defRPr>
            </a:pPr>
            <a:r>
              <a:t>① Where to go?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47872"/>
            <a:ext cx="2807208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350" b="1">
                <a:solidFill>
                  <a:srgbClr val="3770BE"/>
                </a:solidFill>
                <a:latin typeface="Aptos"/>
              </a:defRPr>
            </a:pPr>
            <a:r>
              <a:t>Fixed 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68496"/>
            <a:ext cx="2715768" cy="9601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220" b="0">
                <a:solidFill>
                  <a:srgbClr val="2D3237"/>
                </a:solidFill>
                <a:latin typeface="Aptos"/>
              </a:defRPr>
            </a:pPr>
            <a:r>
              <a:t>Many neighbors are irrelevant.</a:t>
            </a:r>
            <a:br/>
            <a:r>
              <a:t>Fixed propagation can spread</a:t>
            </a:r>
            <a:br/>
            <a:r>
              <a:t>relevance into distracting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2" y="2852928"/>
            <a:ext cx="3081528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2990088"/>
            <a:ext cx="2862072" cy="45720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8"/>
                </a:solidFill>
                <a:latin typeface="Aptos"/>
              </a:defRPr>
            </a:pPr>
            <a:r>
              <a:t>② What to trust?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3547872"/>
            <a:ext cx="2807208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350" b="1">
                <a:solidFill>
                  <a:srgbClr val="3770BE"/>
                </a:solidFill>
                <a:latin typeface="Aptos"/>
              </a:defRPr>
            </a:pPr>
            <a:r>
              <a:t>Fixed Granularity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3968496"/>
            <a:ext cx="2715768" cy="9601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220" b="0">
                <a:solidFill>
                  <a:srgbClr val="2D3237"/>
                </a:solidFill>
                <a:latin typeface="Aptos"/>
              </a:defRPr>
            </a:pPr>
            <a:r>
              <a:t>Entity, Passage, and Paper</a:t>
            </a:r>
            <a:br/>
            <a:r>
              <a:t>provide different evidence.</a:t>
            </a:r>
            <a:br/>
            <a:r>
              <a:t>Their importance should depend</a:t>
            </a:r>
            <a:br/>
            <a:r>
              <a:t>on the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8664" y="2852928"/>
            <a:ext cx="3081528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08392" y="2990088"/>
            <a:ext cx="2862072" cy="45720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8"/>
                </a:solidFill>
                <a:latin typeface="Aptos"/>
              </a:defRPr>
            </a:pPr>
            <a:r>
              <a:t>③ How far to go?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3547872"/>
            <a:ext cx="2807208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350" b="1">
                <a:solidFill>
                  <a:srgbClr val="3770BE"/>
                </a:solidFill>
                <a:latin typeface="Aptos"/>
              </a:defRPr>
            </a:pPr>
            <a:r>
              <a:t>Fixed 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3968496"/>
            <a:ext cx="2715768" cy="9601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220" b="0">
                <a:solidFill>
                  <a:srgbClr val="2D3237"/>
                </a:solidFill>
                <a:latin typeface="Aptos"/>
              </a:defRPr>
            </a:pPr>
            <a:r>
              <a:t>Specific questions may need</a:t>
            </a:r>
            <a:br/>
            <a:r>
              <a:t>narrow diffusion, while complex</a:t>
            </a:r>
            <a:br/>
            <a:r>
              <a:t>cross-document questions may</a:t>
            </a:r>
            <a:br/>
            <a:r>
              <a:t>need broader multi-hop propagation.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39696" y="5120640"/>
            <a:ext cx="2752344" cy="411480"/>
          </a:xfrm>
          <a:prstGeom prst="line">
            <a:avLst/>
          </a:prstGeom>
          <a:ln w="1905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41848" y="5120640"/>
            <a:ext cx="0" cy="411480"/>
          </a:xfrm>
          <a:prstGeom prst="line">
            <a:avLst/>
          </a:prstGeom>
          <a:ln w="1905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391656" y="5120640"/>
            <a:ext cx="2752344" cy="411480"/>
          </a:xfrm>
          <a:prstGeom prst="line">
            <a:avLst/>
          </a:prstGeom>
          <a:ln w="1905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69080" y="5532120"/>
            <a:ext cx="4069080" cy="566928"/>
          </a:xfrm>
          <a:prstGeom prst="roundRect">
            <a:avLst/>
          </a:prstGeom>
          <a:solidFill>
            <a:srgbClr val="FCEEEE"/>
          </a:solidFill>
          <a:ln w="15240">
            <a:solidFill>
              <a:srgbClr val="CD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963737"/>
                </a:solidFill>
                <a:latin typeface="Aptos"/>
              </a:defRPr>
            </a:pPr>
            <a:r>
              <a:t>Noise / Relevance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6272784"/>
            <a:ext cx="9372600" cy="40233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1650" b="1">
                <a:solidFill>
                  <a:srgbClr val="182D48"/>
                </a:solidFill>
                <a:latin typeface="Aptos"/>
              </a:defRPr>
            </a:pPr>
            <a:r>
              <a:t>Finding “related information” does not necessarily mean finding “useful evidence.”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2500" b="1">
                <a:solidFill>
                  <a:srgbClr val="182D48"/>
                </a:solidFill>
                <a:latin typeface="Aptos"/>
              </a:defRPr>
            </a:pPr>
            <a:r>
              <a:t>QG-PPR: Query-conditioned Control for Adaptive Graph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36576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1350" b="0">
                <a:solidFill>
                  <a:srgbClr val="737D87"/>
                </a:solidFill>
                <a:latin typeface="Aptos"/>
              </a:defRPr>
            </a:pPr>
            <a:r>
              <a:t>QG-PPR learns where to start, what knowledge to prioritize, and where relevance should propagate.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170432"/>
            <a:ext cx="2834640" cy="621792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17720" y="1243584"/>
            <a:ext cx="2651760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700" b="1">
                <a:solidFill>
                  <a:srgbClr val="182D48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54296" y="1645920"/>
            <a:ext cx="2578608" cy="73152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200" b="0">
                <a:solidFill>
                  <a:srgbClr val="2D3237"/>
                </a:solidFill>
                <a:latin typeface="Aptos"/>
              </a:defRPr>
            </a:pPr>
            <a:r>
              <a:t>The current engineering 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792224"/>
            <a:ext cx="0" cy="219456"/>
          </a:xfrm>
          <a:prstGeom prst="line">
            <a:avLst/>
          </a:prstGeom>
          <a:ln w="24130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0" y="2011680"/>
            <a:ext cx="4206240" cy="694944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084832"/>
            <a:ext cx="4023359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600" b="1">
                <a:solidFill>
                  <a:srgbClr val="182D48"/>
                </a:solidFill>
                <a:latin typeface="Aptos"/>
              </a:defRPr>
            </a:pPr>
            <a:r>
              <a:t>QUERY-CONDITIONED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487168"/>
            <a:ext cx="3950207" cy="14630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Adaptive retrieval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3246120" cy="160020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2"/>
            <a:ext cx="3063239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450" b="1">
                <a:solidFill>
                  <a:srgbClr val="182D48"/>
                </a:solidFill>
                <a:latin typeface="Aptos"/>
              </a:defRPr>
            </a:pPr>
            <a:r>
              <a:t>RESET GATING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447288"/>
            <a:ext cx="2990087" cy="105156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Where to start?</a:t>
            </a:r>
            <a:br/>
            <a:r>
              <a:t>Controls the initial</a:t>
            </a:r>
            <a:br/>
            <a:r>
              <a:t>relevance assigned to</a:t>
            </a:r>
            <a:br/>
            <a:r>
              <a:t>query-relevant nodes.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130552" y="2706624"/>
            <a:ext cx="3813048" cy="265176"/>
          </a:xfrm>
          <a:prstGeom prst="line">
            <a:avLst/>
          </a:prstGeom>
          <a:ln w="15240">
            <a:solidFill>
              <a:srgbClr val="7D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78224" y="2971800"/>
            <a:ext cx="3246120" cy="160020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3" y="3044952"/>
            <a:ext cx="3063239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450" b="1">
                <a:solidFill>
                  <a:srgbClr val="182D48"/>
                </a:solidFill>
                <a:latin typeface="Aptos"/>
              </a:defRPr>
            </a:pPr>
            <a:r>
              <a:t>GRANULARITY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47288"/>
            <a:ext cx="2990087" cy="105156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What to trust?</a:t>
            </a:r>
            <a:br/>
            <a:r>
              <a:t>Selects the most useful</a:t>
            </a:r>
            <a:br/>
            <a:r>
              <a:t>knowledge granularity</a:t>
            </a:r>
            <a:br/>
            <a:r>
              <a:t>for the current query.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705856" y="2706624"/>
            <a:ext cx="237744" cy="265176"/>
          </a:xfrm>
          <a:prstGeom prst="line">
            <a:avLst/>
          </a:prstGeom>
          <a:ln w="15240">
            <a:solidFill>
              <a:srgbClr val="7D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53527" y="2971800"/>
            <a:ext cx="3246120" cy="1600200"/>
          </a:xfrm>
          <a:prstGeom prst="roundRect">
            <a:avLst/>
          </a:prstGeom>
          <a:solidFill>
            <a:srgbClr val="FCF1E2"/>
          </a:solidFill>
          <a:ln w="1524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7" y="3044952"/>
            <a:ext cx="3063239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450" b="1">
                <a:solidFill>
                  <a:srgbClr val="182D48"/>
                </a:solidFill>
                <a:latin typeface="Aptos"/>
              </a:defRPr>
            </a:pPr>
            <a:r>
              <a:t>DIFFUSION GATING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3447288"/>
            <a:ext cx="2990087" cy="105156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Where to go?</a:t>
            </a:r>
            <a:br/>
            <a:r>
              <a:t>Controls relevance</a:t>
            </a:r>
            <a:br/>
            <a:r>
              <a:t>propagation across graph</a:t>
            </a:r>
            <a:br/>
            <a:r>
              <a:t>connections.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0" y="2706624"/>
            <a:ext cx="3337559" cy="265176"/>
          </a:xfrm>
          <a:prstGeom prst="line">
            <a:avLst/>
          </a:prstGeom>
          <a:ln w="15240">
            <a:solidFill>
              <a:srgbClr val="7D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21408" y="4572000"/>
            <a:ext cx="3822192" cy="365760"/>
          </a:xfrm>
          <a:prstGeom prst="line">
            <a:avLst/>
          </a:prstGeom>
          <a:ln w="15240">
            <a:solidFill>
              <a:srgbClr val="7D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05856" y="4572000"/>
            <a:ext cx="237744" cy="365760"/>
          </a:xfrm>
          <a:prstGeom prst="line">
            <a:avLst/>
          </a:prstGeom>
          <a:ln w="15240">
            <a:solidFill>
              <a:srgbClr val="7D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943600" y="4572000"/>
            <a:ext cx="3337560" cy="365760"/>
          </a:xfrm>
          <a:prstGeom prst="line">
            <a:avLst/>
          </a:prstGeom>
          <a:ln w="15240">
            <a:solidFill>
              <a:srgbClr val="7D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86200" y="4937760"/>
            <a:ext cx="4114800" cy="713232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5010912"/>
            <a:ext cx="3931920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700" b="1">
                <a:solidFill>
                  <a:srgbClr val="182D48"/>
                </a:solidFill>
                <a:latin typeface="Aptos"/>
              </a:defRPr>
            </a:pPr>
            <a:r>
              <a:t>ADAPTIVE PPR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4215" y="5413248"/>
            <a:ext cx="3858768" cy="164592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200" b="0">
                <a:solidFill>
                  <a:srgbClr val="2D3237"/>
                </a:solidFill>
                <a:latin typeface="Aptos"/>
              </a:defRPr>
            </a:pPr>
            <a:r>
              <a:t>Query-specific graph diffusion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0" y="5650992"/>
            <a:ext cx="0" cy="219456"/>
          </a:xfrm>
          <a:prstGeom prst="line">
            <a:avLst/>
          </a:prstGeom>
          <a:ln w="22860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520440" y="5870448"/>
            <a:ext cx="4846320" cy="694944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5943600"/>
            <a:ext cx="4663440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550" b="1">
                <a:solidFill>
                  <a:srgbClr val="182D48"/>
                </a:solidFill>
                <a:latin typeface="Aptos"/>
              </a:defRPr>
            </a:pPr>
            <a:r>
              <a:t>RELEVANT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48456" y="6345936"/>
            <a:ext cx="4590288" cy="14630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Evidence that supports engineering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647688"/>
            <a:ext cx="10241280" cy="27432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50" b="1">
                <a:solidFill>
                  <a:srgbClr val="182D48"/>
                </a:solidFill>
                <a:latin typeface="Aptos"/>
              </a:defRPr>
            </a:pPr>
            <a:r>
              <a:t>Core Invention: Make graph retrieval query-aware at initialization, granularity selection, and propagation.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2400" b="1">
                <a:solidFill>
                  <a:srgbClr val="182D48"/>
                </a:solidFill>
                <a:latin typeface="Aptos"/>
              </a:defRPr>
            </a:pPr>
            <a:r>
              <a:t>DS Co-Scientist: Commercialization Plan &amp; Expected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1300" b="0">
                <a:solidFill>
                  <a:srgbClr val="737D87"/>
                </a:solidFill>
                <a:latin typeface="Aptos"/>
              </a:defRPr>
            </a:pPr>
            <a:r>
              <a:t>From case validation to CTO-wide deployment — turning AI-assisted knowledge retrieval into an engineering productivity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2743200" cy="29260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1600" b="1">
                <a:solidFill>
                  <a:srgbClr val="182D48"/>
                </a:solidFill>
                <a:latin typeface="Aptos"/>
              </a:defRPr>
            </a:pPr>
            <a:r>
              <a:t>Deployment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36192"/>
            <a:ext cx="2423160" cy="1444752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2240280" cy="27432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50" b="1">
                <a:solidFill>
                  <a:srgbClr val="3770BE"/>
                </a:solidFill>
                <a:latin typeface="Aptos"/>
              </a:defRPr>
            </a:pPr>
            <a:r>
              <a:t>2026 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2240280" cy="29260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182D48"/>
                </a:solidFill>
                <a:latin typeface="Aptos"/>
              </a:defRPr>
            </a:pPr>
            <a:r>
              <a:t>Case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276856"/>
            <a:ext cx="2167128" cy="54864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050" b="0">
                <a:solidFill>
                  <a:srgbClr val="2D3237"/>
                </a:solidFill>
                <a:latin typeface="Aptos"/>
              </a:defRPr>
            </a:pPr>
            <a:r>
              <a:t>BLPM · Si:SiGe · X-Mask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36192"/>
            <a:ext cx="2423160" cy="1444752"/>
          </a:xfrm>
          <a:prstGeom prst="roundRect">
            <a:avLst/>
          </a:prstGeom>
          <a:solidFill>
            <a:srgbClr val="E8F7EF"/>
          </a:solidFill>
          <a:ln w="1397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27632"/>
            <a:ext cx="2240280" cy="27432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50" b="1">
                <a:solidFill>
                  <a:srgbClr val="348760"/>
                </a:solidFill>
                <a:latin typeface="Aptos"/>
              </a:defRPr>
            </a:pPr>
            <a:r>
              <a:t>2026 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47672"/>
            <a:ext cx="2240280" cy="29260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182D48"/>
                </a:solidFill>
                <a:latin typeface="Aptos"/>
              </a:defRPr>
            </a:pPr>
            <a:r>
              <a:t>Initial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276856"/>
            <a:ext cx="2167128" cy="54864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050" b="0">
                <a:solidFill>
                  <a:srgbClr val="2D3237"/>
                </a:solidFill>
                <a:latin typeface="Aptos"/>
              </a:defRPr>
            </a:pPr>
            <a:r>
              <a:t>CTO Next-Gen Process Development</a:t>
            </a:r>
            <a:br/>
            <a:r>
              <a:t>+ DRAM Process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36192"/>
            <a:ext cx="2423160" cy="1444752"/>
          </a:xfrm>
          <a:prstGeom prst="roundRect">
            <a:avLst/>
          </a:prstGeom>
          <a:solidFill>
            <a:srgbClr val="FCF1E2"/>
          </a:solidFill>
          <a:ln w="1397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27632"/>
            <a:ext cx="2240280" cy="27432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50" b="1">
                <a:solidFill>
                  <a:srgbClr val="D3873A"/>
                </a:solidFill>
                <a:latin typeface="Aptos"/>
              </a:defRPr>
            </a:pPr>
            <a:r>
              <a:t>2027 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47672"/>
            <a:ext cx="2240280" cy="29260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182D48"/>
                </a:solidFill>
                <a:latin typeface="Aptos"/>
              </a:defRPr>
            </a:pPr>
            <a:r>
              <a:t>Expansion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276856"/>
            <a:ext cx="2167128" cy="54864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050" b="0">
                <a:solidFill>
                  <a:srgbClr val="2D3237"/>
                </a:solidFill>
                <a:latin typeface="Aptos"/>
              </a:defRPr>
            </a:pPr>
            <a:r>
              <a:t>CTO Process Development</a:t>
            </a:r>
            <a:br/>
            <a:r>
              <a:t>+ TD · Mask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536192"/>
            <a:ext cx="2423160" cy="1444752"/>
          </a:xfrm>
          <a:prstGeom prst="roundRect">
            <a:avLst/>
          </a:prstGeom>
          <a:solidFill>
            <a:srgbClr val="E8F7EF"/>
          </a:solidFill>
          <a:ln w="1397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627632"/>
            <a:ext cx="2240280" cy="27432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50" b="1">
                <a:solidFill>
                  <a:srgbClr val="348760"/>
                </a:solidFill>
                <a:latin typeface="Aptos"/>
              </a:defRPr>
            </a:pPr>
            <a:r>
              <a:t>2027 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947672"/>
            <a:ext cx="2240280" cy="29260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00" b="1">
                <a:solidFill>
                  <a:srgbClr val="182D48"/>
                </a:solidFill>
                <a:latin typeface="Aptos"/>
              </a:defRPr>
            </a:pPr>
            <a:r>
              <a:t>CTO-wide 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276856"/>
            <a:ext cx="2167128" cy="548640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050" b="0">
                <a:solidFill>
                  <a:srgbClr val="2D3237"/>
                </a:solidFill>
                <a:latin typeface="Aptos"/>
              </a:defRPr>
            </a:pPr>
            <a:r>
              <a:t>Scale DS Co-Scientist across 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82112"/>
            <a:ext cx="3657600" cy="29260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1600" b="1">
                <a:solidFill>
                  <a:srgbClr val="182D48"/>
                </a:solidFill>
                <a:latin typeface="Aptos"/>
              </a:defRPr>
            </a:pPr>
            <a:r>
              <a:t>Expected Business Benefits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84448"/>
            <a:ext cx="3182112" cy="1627632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749039"/>
            <a:ext cx="420624" cy="420624"/>
          </a:xfrm>
          <a:prstGeom prst="ellipse">
            <a:avLst/>
          </a:prstGeom>
          <a:solidFill>
            <a:srgbClr val="3770BE"/>
          </a:solidFill>
          <a:ln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49039"/>
            <a:ext cx="420624" cy="42062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3703320"/>
            <a:ext cx="2377440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1320" b="1">
                <a:solidFill>
                  <a:srgbClr val="182D48"/>
                </a:solidFill>
                <a:latin typeface="Aptos"/>
              </a:defRPr>
            </a:pPr>
            <a:r>
              <a:t>Search &amp; 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279392"/>
            <a:ext cx="2880360" cy="65836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080" b="0">
                <a:solidFill>
                  <a:srgbClr val="2D3237"/>
                </a:solidFill>
                <a:latin typeface="Aptos"/>
              </a:defRPr>
            </a:pPr>
            <a:r>
              <a:t>Faster retrieval of engineering context</a:t>
            </a:r>
            <a:br/>
            <a:r>
              <a:t>based on Recipe IDs, with improved QA accuracy.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3584448"/>
            <a:ext cx="3182112" cy="1627632"/>
          </a:xfrm>
          <a:prstGeom prst="roundRect">
            <a:avLst/>
          </a:prstGeom>
          <a:solidFill>
            <a:srgbClr val="E8F7EF"/>
          </a:solidFill>
          <a:ln w="1397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33672" y="3749039"/>
            <a:ext cx="420624" cy="420624"/>
          </a:xfrm>
          <a:prstGeom prst="ellipse">
            <a:avLst/>
          </a:prstGeom>
          <a:solidFill>
            <a:srgbClr val="348760"/>
          </a:solidFill>
          <a:ln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3672" y="3749039"/>
            <a:ext cx="420624" cy="42062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3703320"/>
            <a:ext cx="2377440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1320" b="1">
                <a:solidFill>
                  <a:srgbClr val="182D48"/>
                </a:solidFill>
                <a:latin typeface="Aptos"/>
              </a:defRPr>
            </a:pPr>
            <a:r>
              <a:t>Experiment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2816" y="4279392"/>
            <a:ext cx="2880360" cy="65836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080" b="0">
                <a:solidFill>
                  <a:srgbClr val="2D3237"/>
                </a:solidFill>
                <a:latin typeface="Aptos"/>
              </a:defRPr>
            </a:pPr>
            <a:r>
              <a:t>Identify missing experiments and propose</a:t>
            </a:r>
            <a:br/>
            <a:r>
              <a:t>necessary experiments from existing history.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44383" y="3584448"/>
            <a:ext cx="3182112" cy="1627632"/>
          </a:xfrm>
          <a:prstGeom prst="roundRect">
            <a:avLst/>
          </a:prstGeom>
          <a:solidFill>
            <a:srgbClr val="FCF1E2"/>
          </a:solidFill>
          <a:ln w="1397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81544" y="3749039"/>
            <a:ext cx="420624" cy="420624"/>
          </a:xfrm>
          <a:prstGeom prst="ellipse">
            <a:avLst/>
          </a:prstGeom>
          <a:solidFill>
            <a:srgbClr val="D3873A"/>
          </a:solidFill>
          <a:ln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81544" y="3749039"/>
            <a:ext cx="420624" cy="42062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3" y="3703320"/>
            <a:ext cx="2377440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>
              <a:defRPr sz="1320" b="1">
                <a:solidFill>
                  <a:srgbClr val="182D48"/>
                </a:solidFill>
                <a:latin typeface="Aptos"/>
              </a:defRPr>
            </a:pPr>
            <a:r>
              <a:t>Tacit Knowledge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4279392"/>
            <a:ext cx="2880360" cy="65836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080" b="0">
                <a:solidFill>
                  <a:srgbClr val="2D3237"/>
                </a:solidFill>
                <a:latin typeface="Aptos"/>
              </a:defRPr>
            </a:pPr>
            <a:r>
              <a:t>Capture and organize engineers’ tacit knowledge</a:t>
            </a:r>
            <a:br/>
            <a:r>
              <a:t>for reuse across teams and projects.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34440" y="5504688"/>
            <a:ext cx="9418320" cy="749808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3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5577840"/>
            <a:ext cx="9235440" cy="329184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450" b="1">
                <a:solidFill>
                  <a:srgbClr val="182D48"/>
                </a:solidFill>
                <a:latin typeface="Aptos"/>
              </a:defRPr>
            </a:pPr>
            <a:r>
              <a:t>COMMERCIAL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2456" y="5980175"/>
            <a:ext cx="9162288" cy="201167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120" b="0">
                <a:solidFill>
                  <a:srgbClr val="2D3237"/>
                </a:solidFill>
                <a:latin typeface="Aptos"/>
              </a:defRPr>
            </a:pPr>
            <a:r>
              <a:t>Reduce search time · accelerate engineering learning cycles · improve experiment planning · preserve reusable engineering know-how.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510528"/>
            <a:ext cx="10607040" cy="310896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ctr">
              <a:defRPr sz="1320" b="1">
                <a:solidFill>
                  <a:srgbClr val="348760"/>
                </a:solidFill>
                <a:latin typeface="Aptos"/>
              </a:defRPr>
            </a:pPr>
            <a:r>
              <a:t>Strategic outcome: Build a reusable AI engineering assistant that turns accumulated process knowledge into scalable organizational capability.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>
              <a:defRPr sz="2600" b="1">
                <a:solidFill>
                  <a:srgbClr val="182D48"/>
                </a:solidFill>
                <a:latin typeface="Aptos"/>
              </a:defRPr>
            </a:pPr>
            <a:r>
              <a:t>Why QG-PPR Is Critical to DS Co-Scientist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10972800" cy="36576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>
              <a:defRPr sz="1350" b="0">
                <a:solidFill>
                  <a:srgbClr val="737D87"/>
                </a:solidFill>
                <a:latin typeface="Aptos"/>
              </a:defRPr>
            </a:pPr>
            <a:r>
              <a:t>QG-PPR connects engineering questions with the right evidence in a multi-granularity knowledge 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2926080" cy="2743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>
              <a:defRPr sz="1550" b="1">
                <a:solidFill>
                  <a:srgbClr val="182D48"/>
                </a:solidFill>
                <a:latin typeface="Aptos"/>
              </a:defRPr>
            </a:pPr>
            <a:r>
              <a:t>DS Co-Scientist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3108960" cy="73152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2926079" cy="310896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350" b="1">
                <a:solidFill>
                  <a:srgbClr val="182D48"/>
                </a:solidFill>
                <a:latin typeface="Aptos"/>
              </a:defRPr>
            </a:pPr>
            <a:r>
              <a:t>Search &amp;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11095"/>
            <a:ext cx="2889504" cy="22860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080" b="0">
                <a:solidFill>
                  <a:srgbClr val="2D3237"/>
                </a:solidFill>
                <a:latin typeface="Aptos"/>
              </a:defRPr>
            </a:pPr>
            <a:r>
              <a:t>Find the right engineering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81328"/>
            <a:ext cx="3108960" cy="73152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545336"/>
            <a:ext cx="2926079" cy="310896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350" b="1">
                <a:solidFill>
                  <a:srgbClr val="182D48"/>
                </a:solidFill>
                <a:latin typeface="Aptos"/>
              </a:defRPr>
            </a:pPr>
            <a:r>
              <a:t>Experiment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1911095"/>
            <a:ext cx="2889504" cy="22860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080" b="0">
                <a:solidFill>
                  <a:srgbClr val="2D3237"/>
                </a:solidFill>
                <a:latin typeface="Aptos"/>
              </a:defRPr>
            </a:pPr>
            <a:r>
              <a:t>Identify experiment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481328"/>
            <a:ext cx="3108960" cy="731520"/>
          </a:xfrm>
          <a:prstGeom prst="roundRect">
            <a:avLst/>
          </a:prstGeom>
          <a:solidFill>
            <a:srgbClr val="FCF1E2"/>
          </a:solidFill>
          <a:ln w="15240">
            <a:solidFill>
              <a:srgbClr val="D3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545336"/>
            <a:ext cx="2926079" cy="310896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350" b="1">
                <a:solidFill>
                  <a:srgbClr val="182D48"/>
                </a:solidFill>
                <a:latin typeface="Aptos"/>
              </a:defRPr>
            </a:pPr>
            <a:r>
              <a:t>Tacit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7" y="1911095"/>
            <a:ext cx="2889504" cy="22860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080" b="0">
                <a:solidFill>
                  <a:srgbClr val="2D3237"/>
                </a:solidFill>
                <a:latin typeface="Aptos"/>
              </a:defRPr>
            </a:pPr>
            <a:r>
              <a:t>Reuse engineering know-how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2212848"/>
            <a:ext cx="3520440" cy="365760"/>
          </a:xfrm>
          <a:prstGeom prst="line">
            <a:avLst/>
          </a:prstGeom>
          <a:ln w="19050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2212848"/>
            <a:ext cx="0" cy="365760"/>
          </a:xfrm>
          <a:prstGeom prst="line">
            <a:avLst/>
          </a:prstGeom>
          <a:ln w="19050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669280" y="2212848"/>
            <a:ext cx="3520440" cy="365760"/>
          </a:xfrm>
          <a:prstGeom prst="line">
            <a:avLst/>
          </a:prstGeom>
          <a:ln w="19050">
            <a:solidFill>
              <a:srgbClr val="D38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77639" y="2578608"/>
            <a:ext cx="3383280" cy="694944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3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79" y="2642615"/>
            <a:ext cx="3200400" cy="310896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500" b="1">
                <a:solidFill>
                  <a:srgbClr val="182D48"/>
                </a:solidFill>
                <a:latin typeface="Aptos"/>
              </a:defRPr>
            </a:pPr>
            <a:r>
              <a:t>Engineering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3008376"/>
            <a:ext cx="3163824" cy="192023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Process · Recipe · Technology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0" y="3273552"/>
            <a:ext cx="0" cy="310896"/>
          </a:xfrm>
          <a:prstGeom prst="line">
            <a:avLst/>
          </a:prstGeom>
          <a:ln w="25400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03320" y="3584448"/>
            <a:ext cx="3931920" cy="82296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59" y="3648456"/>
            <a:ext cx="3749039" cy="310896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900" b="1">
                <a:solidFill>
                  <a:srgbClr val="182D48"/>
                </a:solidFill>
                <a:latin typeface="Aptos"/>
              </a:defRPr>
            </a:pPr>
            <a:r>
              <a:t>QG-PPR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4014215"/>
            <a:ext cx="3712463" cy="32004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200" b="0">
                <a:solidFill>
                  <a:srgbClr val="2D3237"/>
                </a:solidFill>
                <a:latin typeface="Aptos"/>
              </a:defRPr>
            </a:pPr>
            <a:r>
              <a:t>Query-conditioned graph retrieval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4407408"/>
            <a:ext cx="0" cy="292608"/>
          </a:xfrm>
          <a:prstGeom prst="line">
            <a:avLst/>
          </a:prstGeom>
          <a:ln w="25400">
            <a:solidFill>
              <a:srgbClr val="3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429000" y="4700016"/>
            <a:ext cx="4480560" cy="749808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3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4764024"/>
            <a:ext cx="4297680" cy="310896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600" b="1">
                <a:solidFill>
                  <a:srgbClr val="182D48"/>
                </a:solidFill>
                <a:latin typeface="Aptos"/>
              </a:defRPr>
            </a:pPr>
            <a:r>
              <a:t>Multi-granularity Knowledge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5129783"/>
            <a:ext cx="4261104" cy="246887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150" b="0">
                <a:solidFill>
                  <a:srgbClr val="2D3237"/>
                </a:solidFill>
                <a:latin typeface="Aptos"/>
              </a:defRPr>
            </a:pPr>
            <a:r>
              <a:t>Integrated engineering knowledge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0" y="5449824"/>
            <a:ext cx="0" cy="283464"/>
          </a:xfrm>
          <a:prstGeom prst="line">
            <a:avLst/>
          </a:prstGeom>
          <a:ln w="25400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520440" y="5733288"/>
            <a:ext cx="429768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348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5797296"/>
            <a:ext cx="4114800" cy="310896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550" b="1">
                <a:solidFill>
                  <a:srgbClr val="182D48"/>
                </a:solidFill>
                <a:latin typeface="Aptos"/>
              </a:defRPr>
            </a:pPr>
            <a:r>
              <a:t>Relevant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6163055"/>
            <a:ext cx="4078224" cy="246887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100" b="0">
                <a:solidFill>
                  <a:srgbClr val="2D3237"/>
                </a:solidFill>
                <a:latin typeface="Aptos"/>
              </a:defRPr>
            </a:pPr>
            <a:r>
              <a:t>Query-specific evidence selected from the graph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0" y="6483096"/>
            <a:ext cx="0" cy="301752"/>
          </a:xfrm>
          <a:prstGeom prst="line">
            <a:avLst/>
          </a:prstGeom>
          <a:ln w="25400">
            <a:solidFill>
              <a:srgbClr val="348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291840" y="6784848"/>
            <a:ext cx="4754880" cy="658368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6848856"/>
            <a:ext cx="4572000" cy="310896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500" b="1">
                <a:solidFill>
                  <a:srgbClr val="182D48"/>
                </a:solidFill>
                <a:latin typeface="Aptos"/>
              </a:defRPr>
            </a:pPr>
            <a:r>
              <a:t>Better Engineering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7214616"/>
            <a:ext cx="4535424" cy="155447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080" b="0">
                <a:solidFill>
                  <a:srgbClr val="2D3237"/>
                </a:solidFill>
                <a:latin typeface="Aptos"/>
              </a:defRPr>
            </a:pPr>
            <a:r>
              <a:t>Faster and more reliable engineering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7296912"/>
            <a:ext cx="896112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>
              <a:defRPr sz="1350" b="1">
                <a:solidFill>
                  <a:srgbClr val="182D48"/>
                </a:solidFill>
                <a:latin typeface="Aptos"/>
              </a:defRPr>
            </a:pPr>
            <a:r>
              <a:t>QG-PPR is the core retrieval layer between engineering questions and actionable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